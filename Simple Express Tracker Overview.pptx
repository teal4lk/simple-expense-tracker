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72"/>
  </p:normalViewPr>
  <p:slideViewPr>
    <p:cSldViewPr snapToGrid="0">
      <p:cViewPr varScale="1">
        <p:scale>
          <a:sx n="107" d="100"/>
          <a:sy n="107" d="100"/>
        </p:scale>
        <p:origin x="928"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12/10/25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81A8-4B1F-7373-EA58-5CA909CBE71C}"/>
              </a:ext>
            </a:extLst>
          </p:cNvPr>
          <p:cNvSpPr>
            <a:spLocks noGrp="1"/>
          </p:cNvSpPr>
          <p:nvPr>
            <p:ph type="ctrTitle"/>
          </p:nvPr>
        </p:nvSpPr>
        <p:spPr/>
        <p:txBody>
          <a:bodyPr/>
          <a:lstStyle/>
          <a:p>
            <a:r>
              <a:rPr lang="en-US" dirty="0"/>
              <a:t>Simple Expense tracker</a:t>
            </a:r>
          </a:p>
        </p:txBody>
      </p:sp>
      <p:sp>
        <p:nvSpPr>
          <p:cNvPr id="3" name="Subtitle 2">
            <a:extLst>
              <a:ext uri="{FF2B5EF4-FFF2-40B4-BE49-F238E27FC236}">
                <a16:creationId xmlns:a16="http://schemas.microsoft.com/office/drawing/2014/main" id="{C803793E-A229-733D-7E51-CE58CB0EF8DB}"/>
              </a:ext>
            </a:extLst>
          </p:cNvPr>
          <p:cNvSpPr>
            <a:spLocks noGrp="1"/>
          </p:cNvSpPr>
          <p:nvPr>
            <p:ph type="subTitle" idx="1"/>
          </p:nvPr>
        </p:nvSpPr>
        <p:spPr/>
        <p:txBody>
          <a:bodyPr/>
          <a:lstStyle/>
          <a:p>
            <a:r>
              <a:rPr lang="en-US" dirty="0"/>
              <a:t>A simple overview of a simple code</a:t>
            </a:r>
          </a:p>
        </p:txBody>
      </p:sp>
    </p:spTree>
    <p:extLst>
      <p:ext uri="{BB962C8B-B14F-4D97-AF65-F5344CB8AC3E}">
        <p14:creationId xmlns:p14="http://schemas.microsoft.com/office/powerpoint/2010/main" val="1248403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1CF4E-CDBF-AB53-A3DB-A79D34637AAB}"/>
              </a:ext>
            </a:extLst>
          </p:cNvPr>
          <p:cNvSpPr>
            <a:spLocks noGrp="1"/>
          </p:cNvSpPr>
          <p:nvPr>
            <p:ph type="title"/>
          </p:nvPr>
        </p:nvSpPr>
        <p:spPr/>
        <p:txBody>
          <a:bodyPr/>
          <a:lstStyle/>
          <a:p>
            <a:r>
              <a:rPr lang="en-US" dirty="0"/>
              <a:t>Approach and Design</a:t>
            </a:r>
          </a:p>
        </p:txBody>
      </p:sp>
      <p:sp>
        <p:nvSpPr>
          <p:cNvPr id="3" name="Content Placeholder 2">
            <a:extLst>
              <a:ext uri="{FF2B5EF4-FFF2-40B4-BE49-F238E27FC236}">
                <a16:creationId xmlns:a16="http://schemas.microsoft.com/office/drawing/2014/main" id="{804E3AD5-6CB1-F4F2-C9C6-DDDFA16BAC8F}"/>
              </a:ext>
            </a:extLst>
          </p:cNvPr>
          <p:cNvSpPr>
            <a:spLocks noGrp="1"/>
          </p:cNvSpPr>
          <p:nvPr>
            <p:ph sz="half" idx="1"/>
          </p:nvPr>
        </p:nvSpPr>
        <p:spPr>
          <a:xfrm>
            <a:off x="1141410" y="2249486"/>
            <a:ext cx="9570133" cy="3541714"/>
          </a:xfrm>
        </p:spPr>
        <p:txBody>
          <a:bodyPr>
            <a:normAutofit fontScale="85000" lnSpcReduction="10000"/>
          </a:bodyPr>
          <a:lstStyle/>
          <a:p>
            <a:r>
              <a:rPr lang="en-US" dirty="0"/>
              <a:t>Focused on using object-oriented programming to achieve task. </a:t>
            </a:r>
          </a:p>
          <a:p>
            <a:r>
              <a:rPr lang="en-US" dirty="0"/>
              <a:t>Created an Object (</a:t>
            </a:r>
            <a:r>
              <a:rPr lang="en-US" dirty="0" err="1"/>
              <a:t>Tracker.py</a:t>
            </a:r>
            <a:r>
              <a:rPr lang="en-US" dirty="0"/>
              <a:t>) meant to both add expenses to tracker (stored in a csv file) and to analyze the data</a:t>
            </a:r>
          </a:p>
          <a:p>
            <a:r>
              <a:rPr lang="en-US" dirty="0"/>
              <a:t>The Main file (</a:t>
            </a:r>
            <a:r>
              <a:rPr lang="en-US" dirty="0" err="1"/>
              <a:t>tracking.py</a:t>
            </a:r>
            <a:r>
              <a:rPr lang="en-US" dirty="0"/>
              <a:t>) is meant to interact with the user through the terminal and give them the ability to use the tracker object to accomplish their chosen task. Additionally, it has the capacity to process user input and ensure accurate and proper input</a:t>
            </a:r>
          </a:p>
          <a:p>
            <a:r>
              <a:rPr lang="en-US" dirty="0"/>
              <a:t>The design was made to be simple and straightforward for the user to use. With clear instructions on what the user can do and how to request the information as well as clear and informative error messages.</a:t>
            </a:r>
          </a:p>
        </p:txBody>
      </p:sp>
    </p:spTree>
    <p:extLst>
      <p:ext uri="{BB962C8B-B14F-4D97-AF65-F5344CB8AC3E}">
        <p14:creationId xmlns:p14="http://schemas.microsoft.com/office/powerpoint/2010/main" val="1313822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FE79C-533E-87C4-796D-A08D66E344D3}"/>
              </a:ext>
            </a:extLst>
          </p:cNvPr>
          <p:cNvSpPr>
            <a:spLocks noGrp="1"/>
          </p:cNvSpPr>
          <p:nvPr>
            <p:ph type="title"/>
          </p:nvPr>
        </p:nvSpPr>
        <p:spPr/>
        <p:txBody>
          <a:bodyPr/>
          <a:lstStyle/>
          <a:p>
            <a:r>
              <a:rPr lang="en-US" dirty="0"/>
              <a:t>Key files and folders</a:t>
            </a:r>
          </a:p>
        </p:txBody>
      </p:sp>
      <p:sp>
        <p:nvSpPr>
          <p:cNvPr id="3" name="Content Placeholder 2">
            <a:extLst>
              <a:ext uri="{FF2B5EF4-FFF2-40B4-BE49-F238E27FC236}">
                <a16:creationId xmlns:a16="http://schemas.microsoft.com/office/drawing/2014/main" id="{817A90D5-1D0A-7AD7-584E-77509EBBB7BF}"/>
              </a:ext>
            </a:extLst>
          </p:cNvPr>
          <p:cNvSpPr>
            <a:spLocks noGrp="1"/>
          </p:cNvSpPr>
          <p:nvPr>
            <p:ph idx="1"/>
          </p:nvPr>
        </p:nvSpPr>
        <p:spPr/>
        <p:txBody>
          <a:bodyPr>
            <a:normAutofit lnSpcReduction="10000"/>
          </a:bodyPr>
          <a:lstStyle/>
          <a:p>
            <a:r>
              <a:rPr lang="en-US" dirty="0"/>
              <a:t>Main file - </a:t>
            </a:r>
            <a:r>
              <a:rPr lang="en-US" dirty="0" err="1"/>
              <a:t>tracking.py</a:t>
            </a:r>
            <a:r>
              <a:rPr lang="en-US" dirty="0"/>
              <a:t> </a:t>
            </a:r>
          </a:p>
          <a:p>
            <a:pPr lvl="1"/>
            <a:r>
              <a:rPr lang="en-US" dirty="0"/>
              <a:t>This is the file designed to interact with the user and run the code. It also serves as a means to ensure the given data fits the requirements for the code</a:t>
            </a:r>
          </a:p>
          <a:p>
            <a:r>
              <a:rPr lang="en-US" dirty="0"/>
              <a:t>Object – </a:t>
            </a:r>
            <a:r>
              <a:rPr lang="en-US" dirty="0" err="1"/>
              <a:t>Tracker.py</a:t>
            </a:r>
            <a:endParaRPr lang="en-US" dirty="0"/>
          </a:p>
          <a:p>
            <a:pPr lvl="1"/>
            <a:r>
              <a:rPr lang="en-US" dirty="0"/>
              <a:t>This is the object that serves as doing the manual process to track and analyze the data</a:t>
            </a:r>
          </a:p>
          <a:p>
            <a:r>
              <a:rPr lang="en-US" dirty="0"/>
              <a:t>Data – </a:t>
            </a:r>
            <a:r>
              <a:rPr lang="en-US" dirty="0" err="1"/>
              <a:t>data.csv</a:t>
            </a:r>
            <a:endParaRPr lang="en-US" dirty="0"/>
          </a:p>
          <a:p>
            <a:pPr lvl="1"/>
            <a:r>
              <a:rPr lang="en-US" dirty="0"/>
              <a:t>Data is stored in a csv file. While one can edit it, the csv file is NOT designed to be added to directly by the user</a:t>
            </a:r>
          </a:p>
        </p:txBody>
      </p:sp>
    </p:spTree>
    <p:extLst>
      <p:ext uri="{BB962C8B-B14F-4D97-AF65-F5344CB8AC3E}">
        <p14:creationId xmlns:p14="http://schemas.microsoft.com/office/powerpoint/2010/main" val="261167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27FF1-59AF-72E8-9CF7-39536F6E1F4E}"/>
              </a:ext>
            </a:extLst>
          </p:cNvPr>
          <p:cNvSpPr>
            <a:spLocks noGrp="1"/>
          </p:cNvSpPr>
          <p:nvPr>
            <p:ph type="title"/>
          </p:nvPr>
        </p:nvSpPr>
        <p:spPr/>
        <p:txBody>
          <a:bodyPr/>
          <a:lstStyle/>
          <a:p>
            <a:r>
              <a:rPr lang="en-US" dirty="0"/>
              <a:t>Seed Data</a:t>
            </a:r>
          </a:p>
        </p:txBody>
      </p:sp>
      <p:graphicFrame>
        <p:nvGraphicFramePr>
          <p:cNvPr id="5" name="Content Placeholder 4">
            <a:extLst>
              <a:ext uri="{FF2B5EF4-FFF2-40B4-BE49-F238E27FC236}">
                <a16:creationId xmlns:a16="http://schemas.microsoft.com/office/drawing/2014/main" id="{48A87DCE-B4DB-2632-B70D-73A6428CE324}"/>
              </a:ext>
            </a:extLst>
          </p:cNvPr>
          <p:cNvGraphicFramePr>
            <a:graphicFrameLocks noGrp="1"/>
          </p:cNvGraphicFramePr>
          <p:nvPr>
            <p:ph idx="1"/>
            <p:extLst>
              <p:ext uri="{D42A27DB-BD31-4B8C-83A1-F6EECF244321}">
                <p14:modId xmlns:p14="http://schemas.microsoft.com/office/powerpoint/2010/main" val="3719991635"/>
              </p:ext>
            </p:extLst>
          </p:nvPr>
        </p:nvGraphicFramePr>
        <p:xfrm>
          <a:off x="1141413" y="2249488"/>
          <a:ext cx="9906000" cy="259588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1130302940"/>
                    </a:ext>
                  </a:extLst>
                </a:gridCol>
                <a:gridCol w="3302000">
                  <a:extLst>
                    <a:ext uri="{9D8B030D-6E8A-4147-A177-3AD203B41FA5}">
                      <a16:colId xmlns:a16="http://schemas.microsoft.com/office/drawing/2014/main" val="2879034151"/>
                    </a:ext>
                  </a:extLst>
                </a:gridCol>
                <a:gridCol w="3302000">
                  <a:extLst>
                    <a:ext uri="{9D8B030D-6E8A-4147-A177-3AD203B41FA5}">
                      <a16:colId xmlns:a16="http://schemas.microsoft.com/office/drawing/2014/main" val="1126215085"/>
                    </a:ext>
                  </a:extLst>
                </a:gridCol>
              </a:tblGrid>
              <a:tr h="370840">
                <a:tc>
                  <a:txBody>
                    <a:bodyPr/>
                    <a:lstStyle/>
                    <a:p>
                      <a:r>
                        <a:rPr lang="en-US" dirty="0"/>
                        <a:t>Category</a:t>
                      </a:r>
                    </a:p>
                  </a:txBody>
                  <a:tcPr/>
                </a:tc>
                <a:tc>
                  <a:txBody>
                    <a:bodyPr/>
                    <a:lstStyle/>
                    <a:p>
                      <a:r>
                        <a:rPr lang="en-US" dirty="0"/>
                        <a:t>Amount</a:t>
                      </a:r>
                    </a:p>
                  </a:txBody>
                  <a:tcPr/>
                </a:tc>
                <a:tc>
                  <a:txBody>
                    <a:bodyPr/>
                    <a:lstStyle/>
                    <a:p>
                      <a:r>
                        <a:rPr lang="en-US" dirty="0"/>
                        <a:t>Date</a:t>
                      </a:r>
                    </a:p>
                  </a:txBody>
                  <a:tcPr/>
                </a:tc>
                <a:extLst>
                  <a:ext uri="{0D108BD9-81ED-4DB2-BD59-A6C34878D82A}">
                    <a16:rowId xmlns:a16="http://schemas.microsoft.com/office/drawing/2014/main" val="3024755407"/>
                  </a:ext>
                </a:extLst>
              </a:tr>
              <a:tr h="370840">
                <a:tc>
                  <a:txBody>
                    <a:bodyPr/>
                    <a:lstStyle/>
                    <a:p>
                      <a:pPr algn="l" fontAlgn="b">
                        <a:buNone/>
                      </a:pPr>
                      <a:r>
                        <a:rPr lang="en-US" sz="1800" b="0" i="0" u="none" strike="noStrike" dirty="0">
                          <a:solidFill>
                            <a:srgbClr val="000000"/>
                          </a:solidFill>
                          <a:effectLst/>
                          <a:latin typeface="+mn-lt"/>
                        </a:rPr>
                        <a:t>Car</a:t>
                      </a:r>
                    </a:p>
                  </a:txBody>
                  <a:tcPr marL="9525" marR="9525" marT="9525" marB="0" anchor="b"/>
                </a:tc>
                <a:tc>
                  <a:txBody>
                    <a:bodyPr/>
                    <a:lstStyle/>
                    <a:p>
                      <a:pPr algn="r" fontAlgn="b">
                        <a:buNone/>
                      </a:pPr>
                      <a:r>
                        <a:rPr lang="en-US" sz="1800" b="0" i="0" u="none" strike="noStrike" dirty="0">
                          <a:solidFill>
                            <a:srgbClr val="000000"/>
                          </a:solidFill>
                          <a:effectLst/>
                          <a:latin typeface="+mn-lt"/>
                        </a:rPr>
                        <a:t>75</a:t>
                      </a:r>
                    </a:p>
                  </a:txBody>
                  <a:tcPr marL="9525" marR="9525" marT="9525" marB="0" anchor="b"/>
                </a:tc>
                <a:tc>
                  <a:txBody>
                    <a:bodyPr/>
                    <a:lstStyle/>
                    <a:p>
                      <a:pPr algn="r" fontAlgn="b">
                        <a:buNone/>
                      </a:pPr>
                      <a:r>
                        <a:rPr lang="en-US" sz="1800" b="0" i="0" u="none" strike="noStrike">
                          <a:solidFill>
                            <a:srgbClr val="000000"/>
                          </a:solidFill>
                          <a:effectLst/>
                          <a:latin typeface="+mn-lt"/>
                        </a:rPr>
                        <a:t>1/1/25</a:t>
                      </a:r>
                    </a:p>
                  </a:txBody>
                  <a:tcPr marL="9525" marR="9525" marT="9525" marB="0" anchor="b"/>
                </a:tc>
                <a:extLst>
                  <a:ext uri="{0D108BD9-81ED-4DB2-BD59-A6C34878D82A}">
                    <a16:rowId xmlns:a16="http://schemas.microsoft.com/office/drawing/2014/main" val="3249377584"/>
                  </a:ext>
                </a:extLst>
              </a:tr>
              <a:tr h="370840">
                <a:tc>
                  <a:txBody>
                    <a:bodyPr/>
                    <a:lstStyle/>
                    <a:p>
                      <a:pPr algn="l" fontAlgn="b">
                        <a:buNone/>
                      </a:pPr>
                      <a:r>
                        <a:rPr lang="en-US" sz="1800" b="0" i="0" u="none" strike="noStrike" dirty="0">
                          <a:solidFill>
                            <a:srgbClr val="000000"/>
                          </a:solidFill>
                          <a:effectLst/>
                          <a:latin typeface="+mn-lt"/>
                        </a:rPr>
                        <a:t>Shopping</a:t>
                      </a:r>
                    </a:p>
                  </a:txBody>
                  <a:tcPr marL="9525" marR="9525" marT="9525" marB="0" anchor="b"/>
                </a:tc>
                <a:tc>
                  <a:txBody>
                    <a:bodyPr/>
                    <a:lstStyle/>
                    <a:p>
                      <a:pPr algn="r" fontAlgn="b">
                        <a:buNone/>
                      </a:pPr>
                      <a:r>
                        <a:rPr lang="en-US" sz="1800" b="0" i="0" u="none" strike="noStrike" dirty="0">
                          <a:solidFill>
                            <a:srgbClr val="000000"/>
                          </a:solidFill>
                          <a:effectLst/>
                          <a:latin typeface="+mn-lt"/>
                        </a:rPr>
                        <a:t>25</a:t>
                      </a:r>
                    </a:p>
                  </a:txBody>
                  <a:tcPr marL="9525" marR="9525" marT="9525" marB="0" anchor="b"/>
                </a:tc>
                <a:tc>
                  <a:txBody>
                    <a:bodyPr/>
                    <a:lstStyle/>
                    <a:p>
                      <a:pPr algn="r" fontAlgn="b">
                        <a:buNone/>
                      </a:pPr>
                      <a:r>
                        <a:rPr lang="en-US" sz="1800" b="0" i="0" u="none" strike="noStrike">
                          <a:solidFill>
                            <a:srgbClr val="000000"/>
                          </a:solidFill>
                          <a:effectLst/>
                          <a:latin typeface="+mn-lt"/>
                        </a:rPr>
                        <a:t>10/9/25</a:t>
                      </a:r>
                    </a:p>
                  </a:txBody>
                  <a:tcPr marL="9525" marR="9525" marT="9525" marB="0" anchor="b"/>
                </a:tc>
                <a:extLst>
                  <a:ext uri="{0D108BD9-81ED-4DB2-BD59-A6C34878D82A}">
                    <a16:rowId xmlns:a16="http://schemas.microsoft.com/office/drawing/2014/main" val="3741676687"/>
                  </a:ext>
                </a:extLst>
              </a:tr>
              <a:tr h="370840">
                <a:tc>
                  <a:txBody>
                    <a:bodyPr/>
                    <a:lstStyle/>
                    <a:p>
                      <a:pPr algn="l" fontAlgn="b">
                        <a:buNone/>
                      </a:pPr>
                      <a:r>
                        <a:rPr lang="en-US" sz="1800" b="0" i="0" u="none" strike="noStrike" dirty="0">
                          <a:solidFill>
                            <a:srgbClr val="000000"/>
                          </a:solidFill>
                          <a:effectLst/>
                          <a:latin typeface="+mn-lt"/>
                        </a:rPr>
                        <a:t>Shopping</a:t>
                      </a:r>
                    </a:p>
                  </a:txBody>
                  <a:tcPr marL="9525" marR="9525" marT="9525" marB="0" anchor="b"/>
                </a:tc>
                <a:tc>
                  <a:txBody>
                    <a:bodyPr/>
                    <a:lstStyle/>
                    <a:p>
                      <a:pPr algn="r" fontAlgn="b">
                        <a:buNone/>
                      </a:pPr>
                      <a:r>
                        <a:rPr lang="en-US" sz="1800" b="0" i="0" u="none" strike="noStrike" dirty="0">
                          <a:solidFill>
                            <a:srgbClr val="000000"/>
                          </a:solidFill>
                          <a:effectLst/>
                          <a:latin typeface="+mn-lt"/>
                        </a:rPr>
                        <a:t>10</a:t>
                      </a:r>
                    </a:p>
                  </a:txBody>
                  <a:tcPr marL="9525" marR="9525" marT="9525" marB="0" anchor="b"/>
                </a:tc>
                <a:tc>
                  <a:txBody>
                    <a:bodyPr/>
                    <a:lstStyle/>
                    <a:p>
                      <a:pPr algn="r" fontAlgn="b">
                        <a:buNone/>
                      </a:pPr>
                      <a:r>
                        <a:rPr lang="en-US" sz="1800" b="0" i="0" u="none" strike="noStrike" dirty="0">
                          <a:solidFill>
                            <a:srgbClr val="000000"/>
                          </a:solidFill>
                          <a:effectLst/>
                          <a:latin typeface="+mn-lt"/>
                        </a:rPr>
                        <a:t>10/24/25</a:t>
                      </a:r>
                    </a:p>
                  </a:txBody>
                  <a:tcPr marL="9525" marR="9525" marT="9525" marB="0" anchor="b"/>
                </a:tc>
                <a:extLst>
                  <a:ext uri="{0D108BD9-81ED-4DB2-BD59-A6C34878D82A}">
                    <a16:rowId xmlns:a16="http://schemas.microsoft.com/office/drawing/2014/main" val="312801583"/>
                  </a:ext>
                </a:extLst>
              </a:tr>
              <a:tr h="370840">
                <a:tc>
                  <a:txBody>
                    <a:bodyPr/>
                    <a:lstStyle/>
                    <a:p>
                      <a:pPr algn="l" fontAlgn="b">
                        <a:buNone/>
                      </a:pPr>
                      <a:r>
                        <a:rPr lang="en-US" sz="1800" b="0" i="0" u="none" strike="noStrike">
                          <a:solidFill>
                            <a:srgbClr val="000000"/>
                          </a:solidFill>
                          <a:effectLst/>
                          <a:latin typeface="+mn-lt"/>
                        </a:rPr>
                        <a:t>Rent</a:t>
                      </a:r>
                    </a:p>
                  </a:txBody>
                  <a:tcPr marL="9525" marR="9525" marT="9525" marB="0" anchor="b"/>
                </a:tc>
                <a:tc>
                  <a:txBody>
                    <a:bodyPr/>
                    <a:lstStyle/>
                    <a:p>
                      <a:pPr algn="r" fontAlgn="b">
                        <a:buNone/>
                      </a:pPr>
                      <a:r>
                        <a:rPr lang="en-US" sz="1800" b="0" i="0" u="none" strike="noStrike" dirty="0">
                          <a:solidFill>
                            <a:srgbClr val="000000"/>
                          </a:solidFill>
                          <a:effectLst/>
                          <a:latin typeface="+mn-lt"/>
                        </a:rPr>
                        <a:t>1000</a:t>
                      </a:r>
                    </a:p>
                  </a:txBody>
                  <a:tcPr marL="9525" marR="9525" marT="9525" marB="0" anchor="b"/>
                </a:tc>
                <a:tc>
                  <a:txBody>
                    <a:bodyPr/>
                    <a:lstStyle/>
                    <a:p>
                      <a:pPr algn="r" fontAlgn="b">
                        <a:buNone/>
                      </a:pPr>
                      <a:r>
                        <a:rPr lang="en-US" sz="1800" b="0" i="0" u="none" strike="noStrike" dirty="0">
                          <a:solidFill>
                            <a:srgbClr val="000000"/>
                          </a:solidFill>
                          <a:effectLst/>
                          <a:latin typeface="+mn-lt"/>
                        </a:rPr>
                        <a:t>12/1/25</a:t>
                      </a:r>
                    </a:p>
                  </a:txBody>
                  <a:tcPr marL="9525" marR="9525" marT="9525" marB="0" anchor="b"/>
                </a:tc>
                <a:extLst>
                  <a:ext uri="{0D108BD9-81ED-4DB2-BD59-A6C34878D82A}">
                    <a16:rowId xmlns:a16="http://schemas.microsoft.com/office/drawing/2014/main" val="1748938063"/>
                  </a:ext>
                </a:extLst>
              </a:tr>
              <a:tr h="370840">
                <a:tc>
                  <a:txBody>
                    <a:bodyPr/>
                    <a:lstStyle/>
                    <a:p>
                      <a:pPr algn="l" fontAlgn="b">
                        <a:buNone/>
                      </a:pPr>
                      <a:r>
                        <a:rPr lang="en-US" sz="1800" b="0" i="0" u="none" strike="noStrike">
                          <a:solidFill>
                            <a:srgbClr val="000000"/>
                          </a:solidFill>
                          <a:effectLst/>
                          <a:latin typeface="+mn-lt"/>
                        </a:rPr>
                        <a:t>Pets</a:t>
                      </a:r>
                    </a:p>
                  </a:txBody>
                  <a:tcPr marL="9525" marR="9525" marT="9525" marB="0" anchor="b"/>
                </a:tc>
                <a:tc>
                  <a:txBody>
                    <a:bodyPr/>
                    <a:lstStyle/>
                    <a:p>
                      <a:pPr algn="r" fontAlgn="b">
                        <a:buNone/>
                      </a:pPr>
                      <a:r>
                        <a:rPr lang="en-US" sz="1800" b="0" i="0" u="none" strike="noStrike">
                          <a:solidFill>
                            <a:srgbClr val="000000"/>
                          </a:solidFill>
                          <a:effectLst/>
                          <a:latin typeface="+mn-lt"/>
                        </a:rPr>
                        <a:t>200</a:t>
                      </a:r>
                    </a:p>
                  </a:txBody>
                  <a:tcPr marL="9525" marR="9525" marT="9525" marB="0" anchor="b"/>
                </a:tc>
                <a:tc>
                  <a:txBody>
                    <a:bodyPr/>
                    <a:lstStyle/>
                    <a:p>
                      <a:pPr algn="r" fontAlgn="b">
                        <a:buNone/>
                      </a:pPr>
                      <a:r>
                        <a:rPr lang="en-US" sz="1800" b="0" i="0" u="none" strike="noStrike" dirty="0">
                          <a:solidFill>
                            <a:srgbClr val="000000"/>
                          </a:solidFill>
                          <a:effectLst/>
                          <a:latin typeface="+mn-lt"/>
                        </a:rPr>
                        <a:t>2/26/25</a:t>
                      </a:r>
                    </a:p>
                  </a:txBody>
                  <a:tcPr marL="9525" marR="9525" marT="9525" marB="0" anchor="b"/>
                </a:tc>
                <a:extLst>
                  <a:ext uri="{0D108BD9-81ED-4DB2-BD59-A6C34878D82A}">
                    <a16:rowId xmlns:a16="http://schemas.microsoft.com/office/drawing/2014/main" val="3271615532"/>
                  </a:ext>
                </a:extLst>
              </a:tr>
              <a:tr h="370840">
                <a:tc>
                  <a:txBody>
                    <a:bodyPr/>
                    <a:lstStyle/>
                    <a:p>
                      <a:pPr algn="l" fontAlgn="b">
                        <a:buNone/>
                      </a:pPr>
                      <a:r>
                        <a:rPr lang="en-US" sz="1800" b="0" i="0" u="none" strike="noStrike">
                          <a:solidFill>
                            <a:srgbClr val="000000"/>
                          </a:solidFill>
                          <a:effectLst/>
                          <a:latin typeface="+mn-lt"/>
                        </a:rPr>
                        <a:t>Shopping</a:t>
                      </a:r>
                    </a:p>
                  </a:txBody>
                  <a:tcPr marL="9525" marR="9525" marT="9525" marB="0" anchor="b"/>
                </a:tc>
                <a:tc>
                  <a:txBody>
                    <a:bodyPr/>
                    <a:lstStyle/>
                    <a:p>
                      <a:pPr algn="r" fontAlgn="b">
                        <a:buNone/>
                      </a:pPr>
                      <a:r>
                        <a:rPr lang="en-US" sz="1800" b="0" i="0" u="none" strike="noStrike">
                          <a:solidFill>
                            <a:srgbClr val="000000"/>
                          </a:solidFill>
                          <a:effectLst/>
                          <a:latin typeface="+mn-lt"/>
                        </a:rPr>
                        <a:t>45</a:t>
                      </a:r>
                    </a:p>
                  </a:txBody>
                  <a:tcPr marL="9525" marR="9525" marT="9525" marB="0" anchor="b"/>
                </a:tc>
                <a:tc>
                  <a:txBody>
                    <a:bodyPr/>
                    <a:lstStyle/>
                    <a:p>
                      <a:pPr algn="r" fontAlgn="b">
                        <a:buNone/>
                      </a:pPr>
                      <a:r>
                        <a:rPr lang="en-US" sz="1800" b="0" i="0" u="none" strike="noStrike" dirty="0">
                          <a:solidFill>
                            <a:srgbClr val="000000"/>
                          </a:solidFill>
                          <a:effectLst/>
                          <a:latin typeface="+mn-lt"/>
                        </a:rPr>
                        <a:t>7/18/25</a:t>
                      </a:r>
                    </a:p>
                  </a:txBody>
                  <a:tcPr marL="9525" marR="9525" marT="9525" marB="0" anchor="b"/>
                </a:tc>
                <a:extLst>
                  <a:ext uri="{0D108BD9-81ED-4DB2-BD59-A6C34878D82A}">
                    <a16:rowId xmlns:a16="http://schemas.microsoft.com/office/drawing/2014/main" val="3816333676"/>
                  </a:ext>
                </a:extLst>
              </a:tr>
            </a:tbl>
          </a:graphicData>
        </a:graphic>
      </p:graphicFrame>
      <p:sp>
        <p:nvSpPr>
          <p:cNvPr id="6" name="TextBox 5">
            <a:extLst>
              <a:ext uri="{FF2B5EF4-FFF2-40B4-BE49-F238E27FC236}">
                <a16:creationId xmlns:a16="http://schemas.microsoft.com/office/drawing/2014/main" id="{659FA4F1-1AE5-672F-05D8-E5143D5C2840}"/>
              </a:ext>
            </a:extLst>
          </p:cNvPr>
          <p:cNvSpPr txBox="1"/>
          <p:nvPr/>
        </p:nvSpPr>
        <p:spPr>
          <a:xfrm>
            <a:off x="1141413" y="1727756"/>
            <a:ext cx="6387543" cy="369332"/>
          </a:xfrm>
          <a:prstGeom prst="rect">
            <a:avLst/>
          </a:prstGeom>
          <a:noFill/>
        </p:spPr>
        <p:txBody>
          <a:bodyPr wrap="square" rtlCol="0">
            <a:spAutoFit/>
          </a:bodyPr>
          <a:lstStyle/>
          <a:p>
            <a:r>
              <a:rPr lang="en-US" dirty="0"/>
              <a:t>Data used as basis</a:t>
            </a:r>
          </a:p>
        </p:txBody>
      </p:sp>
    </p:spTree>
    <p:extLst>
      <p:ext uri="{BB962C8B-B14F-4D97-AF65-F5344CB8AC3E}">
        <p14:creationId xmlns:p14="http://schemas.microsoft.com/office/powerpoint/2010/main" val="77026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443DE-8682-7C8B-D07A-F3E1135B667B}"/>
              </a:ext>
            </a:extLst>
          </p:cNvPr>
          <p:cNvSpPr>
            <a:spLocks noGrp="1"/>
          </p:cNvSpPr>
          <p:nvPr>
            <p:ph type="title"/>
          </p:nvPr>
        </p:nvSpPr>
        <p:spPr/>
        <p:txBody>
          <a:bodyPr/>
          <a:lstStyle/>
          <a:p>
            <a:r>
              <a:rPr lang="en-US" dirty="0"/>
              <a:t>Test Cases</a:t>
            </a:r>
          </a:p>
        </p:txBody>
      </p:sp>
      <p:graphicFrame>
        <p:nvGraphicFramePr>
          <p:cNvPr id="4" name="Content Placeholder 3">
            <a:extLst>
              <a:ext uri="{FF2B5EF4-FFF2-40B4-BE49-F238E27FC236}">
                <a16:creationId xmlns:a16="http://schemas.microsoft.com/office/drawing/2014/main" id="{C8DAE74E-B453-B58E-9EA0-80F19BCB1F28}"/>
              </a:ext>
            </a:extLst>
          </p:cNvPr>
          <p:cNvGraphicFramePr>
            <a:graphicFrameLocks noGrp="1"/>
          </p:cNvGraphicFramePr>
          <p:nvPr>
            <p:ph idx="1"/>
            <p:extLst>
              <p:ext uri="{D42A27DB-BD31-4B8C-83A1-F6EECF244321}">
                <p14:modId xmlns:p14="http://schemas.microsoft.com/office/powerpoint/2010/main" val="516285836"/>
              </p:ext>
            </p:extLst>
          </p:nvPr>
        </p:nvGraphicFramePr>
        <p:xfrm>
          <a:off x="1141413" y="2249488"/>
          <a:ext cx="9906000" cy="2291080"/>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625960058"/>
                    </a:ext>
                  </a:extLst>
                </a:gridCol>
                <a:gridCol w="2476500">
                  <a:extLst>
                    <a:ext uri="{9D8B030D-6E8A-4147-A177-3AD203B41FA5}">
                      <a16:colId xmlns:a16="http://schemas.microsoft.com/office/drawing/2014/main" val="3381701957"/>
                    </a:ext>
                  </a:extLst>
                </a:gridCol>
                <a:gridCol w="2476500">
                  <a:extLst>
                    <a:ext uri="{9D8B030D-6E8A-4147-A177-3AD203B41FA5}">
                      <a16:colId xmlns:a16="http://schemas.microsoft.com/office/drawing/2014/main" val="3379488075"/>
                    </a:ext>
                  </a:extLst>
                </a:gridCol>
                <a:gridCol w="2476500">
                  <a:extLst>
                    <a:ext uri="{9D8B030D-6E8A-4147-A177-3AD203B41FA5}">
                      <a16:colId xmlns:a16="http://schemas.microsoft.com/office/drawing/2014/main" val="1522875175"/>
                    </a:ext>
                  </a:extLst>
                </a:gridCol>
              </a:tblGrid>
              <a:tr h="370840">
                <a:tc>
                  <a:txBody>
                    <a:bodyPr/>
                    <a:lstStyle/>
                    <a:p>
                      <a:r>
                        <a:rPr lang="en-US" dirty="0"/>
                        <a:t>Category</a:t>
                      </a:r>
                    </a:p>
                  </a:txBody>
                  <a:tcPr/>
                </a:tc>
                <a:tc>
                  <a:txBody>
                    <a:bodyPr/>
                    <a:lstStyle/>
                    <a:p>
                      <a:r>
                        <a:rPr lang="en-US" dirty="0"/>
                        <a:t>Amount</a:t>
                      </a:r>
                    </a:p>
                  </a:txBody>
                  <a:tcPr/>
                </a:tc>
                <a:tc>
                  <a:txBody>
                    <a:bodyPr/>
                    <a:lstStyle/>
                    <a:p>
                      <a:r>
                        <a:rPr lang="en-US" dirty="0"/>
                        <a:t>Date</a:t>
                      </a:r>
                    </a:p>
                  </a:txBody>
                  <a:tcPr/>
                </a:tc>
                <a:tc>
                  <a:txBody>
                    <a:bodyPr/>
                    <a:lstStyle/>
                    <a:p>
                      <a:r>
                        <a:rPr lang="en-US" dirty="0"/>
                        <a:t>Result</a:t>
                      </a:r>
                    </a:p>
                  </a:txBody>
                  <a:tcPr/>
                </a:tc>
                <a:extLst>
                  <a:ext uri="{0D108BD9-81ED-4DB2-BD59-A6C34878D82A}">
                    <a16:rowId xmlns:a16="http://schemas.microsoft.com/office/drawing/2014/main" val="2459974954"/>
                  </a:ext>
                </a:extLst>
              </a:tr>
              <a:tr h="370840">
                <a:tc>
                  <a:txBody>
                    <a:bodyPr/>
                    <a:lstStyle/>
                    <a:p>
                      <a:r>
                        <a:rPr lang="en-US" dirty="0"/>
                        <a:t>Shipping</a:t>
                      </a:r>
                    </a:p>
                  </a:txBody>
                  <a:tcPr/>
                </a:tc>
                <a:tc>
                  <a:txBody>
                    <a:bodyPr/>
                    <a:lstStyle/>
                    <a:p>
                      <a:r>
                        <a:rPr lang="en-US" dirty="0"/>
                        <a:t>Ten dollars</a:t>
                      </a:r>
                    </a:p>
                  </a:txBody>
                  <a:tcPr/>
                </a:tc>
                <a:tc>
                  <a:txBody>
                    <a:bodyPr/>
                    <a:lstStyle/>
                    <a:p>
                      <a:r>
                        <a:rPr lang="en-US" dirty="0"/>
                        <a:t>N/A</a:t>
                      </a:r>
                    </a:p>
                  </a:txBody>
                  <a:tcPr/>
                </a:tc>
                <a:tc>
                  <a:txBody>
                    <a:bodyPr/>
                    <a:lstStyle/>
                    <a:p>
                      <a:r>
                        <a:rPr lang="en-US" dirty="0"/>
                        <a:t>Asked to replace amount with a float</a:t>
                      </a:r>
                    </a:p>
                  </a:txBody>
                  <a:tcPr/>
                </a:tc>
                <a:extLst>
                  <a:ext uri="{0D108BD9-81ED-4DB2-BD59-A6C34878D82A}">
                    <a16:rowId xmlns:a16="http://schemas.microsoft.com/office/drawing/2014/main" val="1334625085"/>
                  </a:ext>
                </a:extLst>
              </a:tr>
              <a:tr h="370840">
                <a:tc>
                  <a:txBody>
                    <a:bodyPr/>
                    <a:lstStyle/>
                    <a:p>
                      <a:r>
                        <a:rPr lang="en-US" dirty="0"/>
                        <a:t>Shopping</a:t>
                      </a:r>
                    </a:p>
                  </a:txBody>
                  <a:tcPr/>
                </a:tc>
                <a:tc>
                  <a:txBody>
                    <a:bodyPr/>
                    <a:lstStyle/>
                    <a:p>
                      <a:r>
                        <a:rPr lang="en-US" dirty="0"/>
                        <a:t>10</a:t>
                      </a:r>
                    </a:p>
                  </a:txBody>
                  <a:tcPr/>
                </a:tc>
                <a:tc>
                  <a:txBody>
                    <a:bodyPr/>
                    <a:lstStyle/>
                    <a:p>
                      <a:r>
                        <a:rPr lang="en-US" dirty="0"/>
                        <a:t>12-30-2025</a:t>
                      </a:r>
                    </a:p>
                  </a:txBody>
                  <a:tcPr/>
                </a:tc>
                <a:tc>
                  <a:txBody>
                    <a:bodyPr/>
                    <a:lstStyle/>
                    <a:p>
                      <a:r>
                        <a:rPr lang="en-US" dirty="0"/>
                        <a:t>Asked to put in date with proper amount</a:t>
                      </a:r>
                    </a:p>
                  </a:txBody>
                  <a:tcPr/>
                </a:tc>
                <a:extLst>
                  <a:ext uri="{0D108BD9-81ED-4DB2-BD59-A6C34878D82A}">
                    <a16:rowId xmlns:a16="http://schemas.microsoft.com/office/drawing/2014/main" val="26732009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mn-lt"/>
                          <a:ea typeface="+mn-ea"/>
                          <a:cs typeface="+mn-cs"/>
                        </a:rPr>
                        <a:t> </a:t>
                      </a:r>
                      <a:r>
                        <a:rPr kumimoji="0" lang="en-US" sz="1800" b="0" i="0" u="none" strike="noStrike" kern="1200" cap="none" spc="0" normalizeH="0" baseline="0" noProof="0" dirty="0">
                          <a:ln>
                            <a:noFill/>
                          </a:ln>
                          <a:solidFill>
                            <a:prstClr val="black"/>
                          </a:solidFill>
                          <a:effectLst/>
                          <a:uLnTx/>
                          <a:uFillTx/>
                          <a:latin typeface="+mn-lt"/>
                          <a:ea typeface="+mn-ea"/>
                          <a:cs typeface="+mn-cs"/>
                        </a:rPr>
                        <a:t>Shipping</a:t>
                      </a:r>
                    </a:p>
                  </a:txBody>
                  <a:tcPr marL="9525" marR="9525" marT="9525" marB="0" anchor="b"/>
                </a:tc>
                <a:tc>
                  <a:txBody>
                    <a:bodyPr/>
                    <a:lstStyle/>
                    <a:p>
                      <a:pPr algn="r" fontAlgn="b">
                        <a:buNone/>
                      </a:pPr>
                      <a:r>
                        <a:rPr lang="en-US" sz="1800" b="0" i="0" u="none" strike="noStrike" dirty="0">
                          <a:solidFill>
                            <a:srgbClr val="000000"/>
                          </a:solidFill>
                          <a:effectLst/>
                          <a:latin typeface="+mn-lt"/>
                        </a:rPr>
                        <a:t>10</a:t>
                      </a:r>
                    </a:p>
                  </a:txBody>
                  <a:tcPr marL="9525" marR="9525" marT="9525" marB="0" anchor="b"/>
                </a:tc>
                <a:tc>
                  <a:txBody>
                    <a:bodyPr/>
                    <a:lstStyle/>
                    <a:p>
                      <a:pPr algn="r" fontAlgn="b">
                        <a:buNone/>
                      </a:pPr>
                      <a:r>
                        <a:rPr lang="en-US" sz="1800" b="0" i="0" u="none" strike="noStrike" dirty="0">
                          <a:solidFill>
                            <a:srgbClr val="000000"/>
                          </a:solidFill>
                          <a:effectLst/>
                          <a:latin typeface="+mn-lt"/>
                        </a:rPr>
                        <a:t>10/24/25</a:t>
                      </a:r>
                    </a:p>
                  </a:txBody>
                  <a:tcPr marL="9525" marR="9525" marT="9525" marB="0" anchor="b"/>
                </a:tc>
                <a:tc>
                  <a:txBody>
                    <a:bodyPr/>
                    <a:lstStyle/>
                    <a:p>
                      <a:r>
                        <a:rPr lang="en-US" dirty="0"/>
                        <a:t>Successfully added expense</a:t>
                      </a:r>
                    </a:p>
                  </a:txBody>
                  <a:tcPr/>
                </a:tc>
                <a:extLst>
                  <a:ext uri="{0D108BD9-81ED-4DB2-BD59-A6C34878D82A}">
                    <a16:rowId xmlns:a16="http://schemas.microsoft.com/office/drawing/2014/main" val="3352348714"/>
                  </a:ext>
                </a:extLst>
              </a:tr>
            </a:tbl>
          </a:graphicData>
        </a:graphic>
      </p:graphicFrame>
    </p:spTree>
    <p:extLst>
      <p:ext uri="{BB962C8B-B14F-4D97-AF65-F5344CB8AC3E}">
        <p14:creationId xmlns:p14="http://schemas.microsoft.com/office/powerpoint/2010/main" val="7975606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60</TotalTime>
  <Words>299</Words>
  <Application>Microsoft Macintosh PowerPoint</Application>
  <PresentationFormat>Widescreen</PresentationFormat>
  <Paragraphs>54</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Tw Cen MT</vt:lpstr>
      <vt:lpstr>Circuit</vt:lpstr>
      <vt:lpstr>Simple Expense tracker</vt:lpstr>
      <vt:lpstr>Approach and Design</vt:lpstr>
      <vt:lpstr>Key files and folders</vt:lpstr>
      <vt:lpstr>Seed Data</vt:lpstr>
      <vt:lpstr>Test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Leora Kelsey</dc:creator>
  <cp:lastModifiedBy>Leora Kelsey</cp:lastModifiedBy>
  <cp:revision>1</cp:revision>
  <dcterms:created xsi:type="dcterms:W3CDTF">2025-12-10T16:16:02Z</dcterms:created>
  <dcterms:modified xsi:type="dcterms:W3CDTF">2025-12-10T17:16:32Z</dcterms:modified>
</cp:coreProperties>
</file>